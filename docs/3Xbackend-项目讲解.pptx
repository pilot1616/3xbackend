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主题热度</c:v>
                </c:pt>
              </c:strCache>
            </c:strRef>
          </c:tx>
          <c:spPr>
            <a:solidFill>
              <a:srgbClr val="C9A227"/>
            </a:solidFill>
            <a:ln w="254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周一</c:v>
                  </c:pt>
                  <c:pt idx="1">
                    <c:v>周二</c:v>
                  </c:pt>
                  <c:pt idx="2">
                    <c:v>周三</c:v>
                  </c:pt>
                  <c:pt idx="3">
                    <c:v>周四</c:v>
                  </c:pt>
                  <c:pt idx="4">
                    <c:v>周五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66</c:v>
                </c:pt>
                <c:pt idx="4">
                  <c:v>72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科技市场动量</c:v>
                </c:pt>
              </c:strCache>
            </c:strRef>
          </c:tx>
          <c:spPr>
            <a:solidFill>
              <a:srgbClr val="3FB68B"/>
            </a:solidFill>
            <a:ln w="25400" cap="flat">
              <a:solidFill>
                <a:srgbClr val="3FB6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FB68B"/>
              </a:solidFill>
              <a:ln w="9525" cap="flat">
                <a:solidFill>
                  <a:srgbClr val="3FB6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周一</c:v>
                  </c:pt>
                  <c:pt idx="1">
                    <c:v>周二</c:v>
                  </c:pt>
                  <c:pt idx="2">
                    <c:v>周三</c:v>
                  </c:pt>
                  <c:pt idx="3">
                    <c:v>周四</c:v>
                  </c:pt>
                  <c:pt idx="4">
                    <c:v>周五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</c:v>
                </c:pt>
                <c:pt idx="1">
                  <c:v>44</c:v>
                </c:pt>
                <c:pt idx="2">
                  <c:v>50</c:v>
                </c:pt>
                <c:pt idx="3">
                  <c:v>58</c:v>
                </c:pt>
                <c:pt idx="4">
                  <c:v>69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E4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0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81D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9AA0A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181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5852160" cy="5852160"/>
          </a:xfrm>
          <a:prstGeom prst="ellipse">
            <a:avLst/>
          </a:prstGeom>
          <a:ln w="330200">
            <a:solidFill>
              <a:srgbClr val="2225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3566160"/>
            <a:ext cx="3108960" cy="3108960"/>
          </a:xfrm>
          <a:prstGeom prst="ellipse">
            <a:avLst/>
          </a:prstGeom>
          <a:ln w="38100">
            <a:solidFill>
              <a:srgbClr val="8A6F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3337560"/>
            <a:ext cx="41148" cy="822960"/>
          </a:xfrm>
          <a:prstGeom prst="rect">
            <a:avLst/>
          </a:prstGeom>
          <a:solidFill>
            <a:srgbClr val="5A4E1E"/>
          </a:solidFill>
          <a:ln/>
        </p:spPr>
      </p:sp>
      <p:sp>
        <p:nvSpPr>
          <p:cNvPr id="5" name="Shape 3"/>
          <p:cNvSpPr/>
          <p:nvPr/>
        </p:nvSpPr>
        <p:spPr>
          <a:xfrm>
            <a:off x="8513064" y="2834640"/>
            <a:ext cx="201168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9235440" y="2788920"/>
            <a:ext cx="41148" cy="1188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9153144" y="2286000"/>
            <a:ext cx="201168" cy="822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0" y="3611880"/>
            <a:ext cx="41148" cy="914400"/>
          </a:xfrm>
          <a:prstGeom prst="rect">
            <a:avLst/>
          </a:prstGeom>
          <a:solidFill>
            <a:srgbClr val="5A4E1E"/>
          </a:solidFill>
          <a:ln/>
        </p:spPr>
      </p:sp>
      <p:sp>
        <p:nvSpPr>
          <p:cNvPr id="9" name="Shape 7"/>
          <p:cNvSpPr/>
          <p:nvPr/>
        </p:nvSpPr>
        <p:spPr>
          <a:xfrm>
            <a:off x="9793224" y="3108960"/>
            <a:ext cx="201168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0" y="2514600"/>
            <a:ext cx="41148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Shape 9"/>
          <p:cNvSpPr/>
          <p:nvPr/>
        </p:nvSpPr>
        <p:spPr>
          <a:xfrm>
            <a:off x="10433304" y="2011680"/>
            <a:ext cx="201168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55680" y="3154680"/>
            <a:ext cx="41148" cy="1005840"/>
          </a:xfrm>
          <a:prstGeom prst="rect">
            <a:avLst/>
          </a:prstGeom>
          <a:solidFill>
            <a:srgbClr val="5A4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73384" y="2651760"/>
            <a:ext cx="201168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8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1828800"/>
            <a:ext cx="9601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论坛 × 市场行情 × AI 分析</a:t>
            </a:r>
            <a:endParaRPr lang="en-US" sz="48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8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全栈数据平台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+ Gin + GORM  ·  React + TypeScript  ·  FastAPI + AkShare  ·  LangGraph + LLM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24712" cy="402336"/>
          </a:xfrm>
          <a:prstGeom prst="roundRect">
            <a:avLst>
              <a:gd name="adj" fmla="val 50000"/>
            </a:avLst>
          </a:prstGeom>
          <a:solidFill>
            <a:srgbClr val="2225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92040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后端服务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874520" y="4892040"/>
            <a:ext cx="1243584" cy="402336"/>
          </a:xfrm>
          <a:prstGeom prst="roundRect">
            <a:avLst>
              <a:gd name="adj" fmla="val 50000"/>
            </a:avLst>
          </a:prstGeom>
          <a:solidFill>
            <a:srgbClr val="22252D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4892040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 前端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19272" y="4892040"/>
            <a:ext cx="2075688" cy="402336"/>
          </a:xfrm>
          <a:prstGeom prst="roundRect">
            <a:avLst>
              <a:gd name="adj" fmla="val 50000"/>
            </a:avLst>
          </a:prstGeom>
          <a:solidFill>
            <a:srgbClr val="22252D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4892040"/>
            <a:ext cx="2075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数据抓取 data-fetch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96128" y="4892040"/>
            <a:ext cx="2313432" cy="402336"/>
          </a:xfrm>
          <a:prstGeom prst="roundRect">
            <a:avLst>
              <a:gd name="adj" fmla="val 50000"/>
            </a:avLst>
          </a:prstGeom>
          <a:solidFill>
            <a:srgbClr val="22252D"/>
          </a:solidFill>
          <a:ln/>
        </p:spPr>
      </p:sp>
      <p:sp>
        <p:nvSpPr>
          <p:cNvPr id="24" name="Text 22"/>
          <p:cNvSpPr/>
          <p:nvPr/>
        </p:nvSpPr>
        <p:spPr>
          <a:xfrm>
            <a:off x="5596128" y="4892040"/>
            <a:ext cx="2313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Agent (agent/)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项目讲解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一个仓库，四条服务线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3Xbackend 是一个「论坛 + 市场动态」的全栈项目：用户在论坛发帖互动，同时消费贵金属与 AI / 科技行情，并由 LLM 把两类数据联动起来做趋势分析。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15184" cy="3520440"/>
          </a:xfrm>
          <a:prstGeom prst="roundRect">
            <a:avLst>
              <a:gd name="adj" fmla="val 2098"/>
            </a:avLst>
          </a:prstGeom>
          <a:solidFill>
            <a:srgbClr val="2225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后端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cmd / internal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Gin + GORM + MySQL + Viper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认证、论坛、行情、管理接口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统一托管前端静态资源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 Agent 做安全代理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92424" y="2331720"/>
            <a:ext cx="2615184" cy="3520440"/>
          </a:xfrm>
          <a:prstGeom prst="roundRect">
            <a:avLst>
              <a:gd name="adj" fmla="val 2098"/>
            </a:avLst>
          </a:prstGeom>
          <a:solidFill>
            <a:srgbClr val="22252D"/>
          </a:solidFill>
          <a:ln/>
        </p:spPr>
      </p:sp>
      <p:sp>
        <p:nvSpPr>
          <p:cNvPr id="11" name="Text 9"/>
          <p:cNvSpPr/>
          <p:nvPr/>
        </p:nvSpPr>
        <p:spPr>
          <a:xfrm>
            <a:off x="3621024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React 前端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21024" y="299923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front/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21024" y="34290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Vite + TS + React Router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论坛 / 市场动态 / AI 日报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联动分析页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管理员同步控制台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2331720"/>
            <a:ext cx="2615184" cy="3520440"/>
          </a:xfrm>
          <a:prstGeom prst="roundRect">
            <a:avLst>
              <a:gd name="adj" fmla="val 2098"/>
            </a:avLst>
          </a:prstGeom>
          <a:solidFill>
            <a:srgbClr val="2225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64808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数据抓取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64808" y="299923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data-fetch/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64808" y="34290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FastAPI + SQLAlchemy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AkShare 行情快照与历史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定时轮询 + 幂等写入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支撑管理员手动补数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79992" y="2331720"/>
            <a:ext cx="2615184" cy="3520440"/>
          </a:xfrm>
          <a:prstGeom prst="roundRect">
            <a:avLst>
              <a:gd name="adj" fmla="val 2098"/>
            </a:avLst>
          </a:prstGeom>
          <a:solidFill>
            <a:srgbClr val="22252D"/>
          </a:solidFill>
          <a:ln/>
        </p:spPr>
      </p:sp>
      <p:sp>
        <p:nvSpPr>
          <p:cNvPr id="19" name="Text 17"/>
          <p:cNvSpPr/>
          <p:nvPr/>
        </p:nvSpPr>
        <p:spPr>
          <a:xfrm>
            <a:off x="9308592" y="260604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08592" y="299923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agent/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08592" y="34290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 编排 LLM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接收 prompt / chat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只读 SQL 查库取证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多轮对话记忆压缩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旧示例前端 example/ 仅作样式参考 · 规格文档在 specs/ · 接口文档 API.md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架构总览：浏览器只直连 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front/ (Vite build)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2011680"/>
            <a:ext cx="640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1417320"/>
            <a:ext cx="2926080" cy="1188720"/>
          </a:xfrm>
          <a:prstGeom prst="roundRect">
            <a:avLst>
              <a:gd name="adj" fmla="val 4615"/>
            </a:avLst>
          </a:prstGeom>
          <a:solidFill>
            <a:srgbClr val="8A6F1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后端  :3000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18745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cmd/ + internal/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E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 · GORM · JWT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2011680"/>
            <a:ext cx="640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15544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MySQL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066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论坛·行情·日报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20840" y="2011680"/>
            <a:ext cx="0" cy="146304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3474720"/>
            <a:ext cx="640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30175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3108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:8010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06640" y="3474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LLM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20840" y="777240"/>
            <a:ext cx="0" cy="123444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777240"/>
            <a:ext cx="640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32004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411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data-fetch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06640" y="777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AkShare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301752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/api/v1/* · /api/v1/agent/*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5760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API·静态资源·反向代理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64040" y="3200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411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AkShare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464040" y="777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贵金属·科技 ETF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64040" y="155448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4040" y="1645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hex2077.dev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464040" y="20116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日报源站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62288" y="777240"/>
            <a:ext cx="274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62288" y="2011680"/>
            <a:ext cx="274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48640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① 数据入库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286000" y="445312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data-fetch 定时抓 AkShare 快照 / 历史，后端启动后定时抓 AI 日报，统一写 MySQL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48640" y="4946904"/>
            <a:ext cx="11091672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093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② 页面消费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286000" y="511149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浏览器只请求 Go 的 /api/v1/*；agent 与 data-fetch 不直接暴露给浏览器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605272"/>
            <a:ext cx="11091672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7515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③ AI 联动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286000" y="5769864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把 /api/v1/agent/* 反向代理到 agent 服务，并自动携带 X-Agent-Token 内部令牌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后端：Gin + GORM 的四层结构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733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handler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029968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HTTP 路由 / 参数校验 / 响应封装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70078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auth · forum · analysis · admin · 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0" cy="16459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33472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752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3108960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业务规则与数据组装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77977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论坛 · 行情分析 · 同步调度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547872"/>
            <a:ext cx="0" cy="16459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712464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31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" y="418795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路由注册 · 中间件链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8587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CORS · JWT 鉴权 · 日志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4626864"/>
            <a:ext cx="0" cy="164592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791456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22252D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910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database / config / seed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5266944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GORM 建模 · Viper 配置 · 假数据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93776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MySQL 8 · 千级演示数据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554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已交付的业务能力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0" y="20574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账号体系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823960" y="20665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注册 / 登录 / 找回密码 / 密保 / 头像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0" y="2660904"/>
            <a:ext cx="4297680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834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论坛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284378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帖子 CRUD · 附件 · 点赞 · 评论 · 统一搜索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315200" y="3438144"/>
            <a:ext cx="4297680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36118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23960" y="36210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贵金属 + AI/科技标的价格与历史点位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315200" y="4215384"/>
            <a:ext cx="4297680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4389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分析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23960" y="439826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日报主题趋势 × 市场趋势联动判断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15200" y="4992624"/>
            <a:ext cx="4297680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5166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管理后台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823960" y="517550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同步最新 / 补齐全量历史 · 失败可见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0" y="6035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入口：go run ./cmd　·　默认 :3000，健康检查 /health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前端：React SPA 的九个页面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2252D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4650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HomePage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首页 · 统一搜索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2252D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174650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AuthPage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35424" y="211226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登录 / 注册 / 找回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83296" y="1600200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2252D"/>
          </a:solidFill>
          <a:ln/>
        </p:spPr>
      </p:sp>
      <p:sp>
        <p:nvSpPr>
          <p:cNvPr id="12" name="Text 10"/>
          <p:cNvSpPr/>
          <p:nvPr/>
        </p:nvSpPr>
        <p:spPr>
          <a:xfrm>
            <a:off x="8302752" y="1746504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PublishPage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02752" y="211226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发帖 · 图片视频附件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2252D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304495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QuestionDetailPage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" y="3410712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帖子详情 · 评论点赞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15968" y="2898648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A2A1C"/>
          </a:solidFill>
          <a:ln w="12700">
            <a:solidFill>
              <a:srgbClr val="8A6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304495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MarketPage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35424" y="3410712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/market 贵金属与科技行情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83296" y="2898648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A2A1C"/>
          </a:solidFill>
          <a:ln w="12700">
            <a:solidFill>
              <a:srgbClr val="8A6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3044952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AnalysisPage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2752" y="3410712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/analysis AI 联动分析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97096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A2A1C"/>
          </a:solidFill>
          <a:ln w="12700">
            <a:solidFill>
              <a:srgbClr val="8A6F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43434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AIDailyPage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8096" y="47091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/ai-daily 日报阅读检索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15968" y="4197096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A2A1C"/>
          </a:solidFill>
          <a:ln w="12700">
            <a:solidFill>
              <a:srgbClr val="8A6F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43434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AIChatPage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35424" y="47091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对话助手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83296" y="4197096"/>
            <a:ext cx="3529584" cy="1097280"/>
          </a:xfrm>
          <a:prstGeom prst="roundRect">
            <a:avLst>
              <a:gd name="adj" fmla="val 5000"/>
            </a:avLst>
          </a:prstGeom>
          <a:solidFill>
            <a:srgbClr val="22252D"/>
          </a:solidFill>
          <a:ln/>
        </p:spPr>
      </p:sp>
      <p:sp>
        <p:nvSpPr>
          <p:cNvPr id="30" name="Text 28"/>
          <p:cNvSpPr/>
          <p:nvPr/>
        </p:nvSpPr>
        <p:spPr>
          <a:xfrm>
            <a:off x="8302752" y="4343400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AdminSyncPage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02752" y="47091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/admin/sync 同步控制台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金色为数据 / AI 栏目：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市场动态、AI 分析、AI 日报三个栏目已拆分独立路由；分析页不直接抓外部站点，只消费已入库数据。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数据链路：三类数据源，一个入库口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206240" cy="1170432"/>
          </a:xfrm>
          <a:prstGeom prst="roundRect">
            <a:avLst>
              <a:gd name="adj" fmla="val 4688"/>
            </a:avLst>
          </a:prstGeom>
          <a:solidFill>
            <a:srgbClr val="22252D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7739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贵金属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/ Silver / Platinum / Palladium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395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AkShare 实时快照 + 历史序列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2231136"/>
            <a:ext cx="1417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035808"/>
            <a:ext cx="4206240" cy="1170432"/>
          </a:xfrm>
          <a:prstGeom prst="roundRect">
            <a:avLst>
              <a:gd name="adj" fmla="val 4688"/>
            </a:avLst>
          </a:prstGeom>
          <a:solidFill>
            <a:srgbClr val="22252D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1638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/ 科技市场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6384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NDX / QQQ / XLK / SMH / IGV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3785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美股指数与科技 ETF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3621024"/>
            <a:ext cx="1417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425696"/>
            <a:ext cx="4206240" cy="1170432"/>
          </a:xfrm>
          <a:prstGeom prst="roundRect">
            <a:avLst>
              <a:gd name="adj" fmla="val 4688"/>
            </a:avLst>
          </a:prstGeom>
          <a:solidFill>
            <a:srgbClr val="22252D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4553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日报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" y="48828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0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hex2077.dev/docs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51755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启动即同步，此后每 30 分钟抓最近 7 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5010912"/>
            <a:ext cx="141732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2468880"/>
            <a:ext cx="1737360" cy="1737360"/>
          </a:xfrm>
          <a:prstGeom prst="ellipse">
            <a:avLst/>
          </a:prstGeom>
          <a:solidFill>
            <a:srgbClr val="8A6F1C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9077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MySQL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3346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E9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snapshots 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3337560"/>
            <a:ext cx="10515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326880" y="1645920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22252D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1645920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市场动态页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价格图 + 更新状态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326880" y="3035808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22252D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3035808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分析页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趋势聚合与联动结论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26880" y="4425696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22252D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0" y="4425696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只读 SQL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白名单表取证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三种触发方式：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data-fetch 按 DATA_FETCH_INTERVAL_SECONDS 定时轮询　·　管理员后台 /admin/sync 手动同步　·　task data:fetch 命令行补数（历史写入按唯一键幂等去重）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联动分析：信息面 × 市场面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AnalysisPage 消费库内数据，把 AI 日报主题热度与市场资金行为放在同一个时间窗口里对比。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22252D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趋势（信息面）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2651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聚合近 1 / 7 / 30 天 AI 日报主题分布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观察选题热度漂移与延续性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" y="3977640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2A2D35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9776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655064" y="3977640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8A6F1C"/>
          </a:solidFill>
          <a:ln/>
        </p:spPr>
      </p:sp>
      <p:sp>
        <p:nvSpPr>
          <p:cNvPr id="12" name="Text 10"/>
          <p:cNvSpPr/>
          <p:nvPr/>
        </p:nvSpPr>
        <p:spPr>
          <a:xfrm>
            <a:off x="1655064" y="39776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23744" y="3977640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2A2D35"/>
          </a:solidFill>
          <a:ln/>
        </p:spPr>
      </p:sp>
      <p:sp>
        <p:nvSpPr>
          <p:cNvPr id="14" name="Text 12"/>
          <p:cNvSpPr/>
          <p:nvPr/>
        </p:nvSpPr>
        <p:spPr>
          <a:xfrm>
            <a:off x="2523744" y="397764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天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196596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22252D"/>
          </a:solidFill>
          <a:ln/>
        </p:spPr>
      </p:sp>
      <p:sp>
        <p:nvSpPr>
          <p:cNvPr id="16" name="Text 14"/>
          <p:cNvSpPr/>
          <p:nvPr/>
        </p:nvSpPr>
        <p:spPr>
          <a:xfrm>
            <a:off x="5038344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市场趋势（市场面）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38344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科技风险偏好：NDX / QQQ / 半导体 ETF 动量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贵金属避险情绪：金银铂钯动量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26280" y="3337560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52560" y="196596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8A6F1C"/>
          </a:solidFill>
          <a:ln/>
        </p:spPr>
      </p:sp>
      <p:sp>
        <p:nvSpPr>
          <p:cNvPr id="20" name="Text 18"/>
          <p:cNvSpPr/>
          <p:nvPr/>
        </p:nvSpPr>
        <p:spPr>
          <a:xfrm>
            <a:off x="9272016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综合结论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272016" y="2697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0" y="27432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6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信息面与市场面同向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72016" y="32644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背离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6960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6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方向相反的预警信号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72016" y="3831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9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分化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66960" y="38770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6D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板块内部节奏错位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工程细节：窗口可切换；任一模块数据不足时独立降级提示并提供重试入口，不拖垮整页。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559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示例读数（示意）</a:t>
            </a:r>
            <a:endParaRPr lang="en-US" sz="11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5779008"/>
          <a:ext cx="1042416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3931920" y="5559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仅为版式示意，非真实数据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服务：LangGraph 驱动的库内分析员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 /chat 的旅程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475488" cy="475488"/>
          </a:xfrm>
          <a:prstGeom prst="ellipse">
            <a:avLst/>
          </a:prstGeom>
          <a:solidFill>
            <a:srgbClr val="2225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2468880"/>
            <a:ext cx="0" cy="292608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68880" y="19385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POST /api/v1/agent/chat，只认 Go 不直连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475488" cy="475488"/>
          </a:xfrm>
          <a:prstGeom prst="ellipse">
            <a:avLst/>
          </a:prstGeom>
          <a:solidFill>
            <a:srgbClr val="2225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25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86384" y="3328416"/>
            <a:ext cx="0" cy="292608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77977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代理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468880" y="27980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校验登录 · 注入用户身份 · 90s 超时兜底 · 附 X-Agent-Token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475488" cy="475488"/>
          </a:xfrm>
          <a:prstGeom prst="ellipse">
            <a:avLst/>
          </a:prstGeom>
          <a:solidFill>
            <a:srgbClr val="8A6F1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85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86384" y="4187952"/>
            <a:ext cx="0" cy="292608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63931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校验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468880" y="3657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限流 10 次/60s · 只读 SQL + 表白名单 + 强制 LIMIT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544568"/>
            <a:ext cx="475488" cy="475488"/>
          </a:xfrm>
          <a:prstGeom prst="ellipse">
            <a:avLst/>
          </a:prstGeom>
          <a:solidFill>
            <a:srgbClr val="2225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44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86384" y="5047488"/>
            <a:ext cx="0" cy="292608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4988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两段调用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468880" y="45171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先出 SQL 取证 → 再基于数据回答 · 429/5xx 自动重试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04104"/>
            <a:ext cx="475488" cy="475488"/>
          </a:xfrm>
          <a:prstGeom prst="ellipse">
            <a:avLst/>
          </a:prstGeom>
          <a:solidFill>
            <a:srgbClr val="22252D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404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53583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落库审计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468880" y="53766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agent_runs / agent_llm_logs · 失败只回通用提示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14630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2A2A1C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1664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多轮记忆：分段摘要压缩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47104" y="210312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 3 轮（6 条消息）封一段摘要，由回答那次 LLM 调用顺带产出，不加调用次数</a:t>
            </a:r>
            <a:endParaRPr lang="en-US" sz="12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注入 prompt = 最近 12 段摘要 + 封顶 6 条尾部原文（每条截 300 字）</a:t>
            </a:r>
            <a:endParaRPr lang="en-US" sz="1200" dirty="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Token 用量恒定：长对话不膨胀，长程记忆不丢失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023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安全三闸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09360" y="443484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22252D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只读 SQL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55664" y="4892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黑名单 token + 表白名单（users 永不可查）+ 强制 LIMIT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22252D"/>
          </a:solidFill>
          <a:ln/>
        </p:spPr>
      </p:sp>
      <p:sp>
        <p:nvSpPr>
          <p:cNvPr id="38" name="Text 36"/>
          <p:cNvSpPr/>
          <p:nvPr/>
        </p:nvSpPr>
        <p:spPr>
          <a:xfrm>
            <a:off x="8284464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内部令牌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84464" y="4892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代理自动附带 X-Agent-Token，prod 强制开启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966960" y="4434840"/>
            <a:ext cx="1691640" cy="1600200"/>
          </a:xfrm>
          <a:prstGeom prst="roundRect">
            <a:avLst>
              <a:gd name="adj" fmla="val 3429"/>
            </a:avLst>
          </a:prstGeom>
          <a:solidFill>
            <a:srgbClr val="22252D"/>
          </a:solidFill>
          <a:ln/>
        </p:spPr>
      </p:sp>
      <p:sp>
        <p:nvSpPr>
          <p:cNvPr id="41" name="Text 39"/>
          <p:cNvSpPr/>
          <p:nvPr/>
        </p:nvSpPr>
        <p:spPr>
          <a:xfrm>
            <a:off x="10113264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限流审计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0113264" y="489204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每用户 10 次/60s；全部调用入库可追溯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工程化：一条 Task 命令跑通，四层测试守门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Taskfile 工作流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5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 init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80360" y="199339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补齐 .env、建目录、装前端依赖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98064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9806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 dev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80360" y="28529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同起后端 :3000 · 前端 :5173 · agent :8010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576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 compose:up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80360" y="371246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Docker 一键起，前端产物由 Go 托管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517136"/>
            <a:ext cx="2148840" cy="713232"/>
          </a:xfrm>
          <a:prstGeom prst="roundRect">
            <a:avLst>
              <a:gd name="adj" fmla="val 7692"/>
            </a:avLst>
          </a:prstGeom>
          <a:solidFill>
            <a:srgbClr val="22252D"/>
          </a:solidFill>
          <a:ln w="9525">
            <a:solidFill>
              <a:srgbClr val="3A3E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1713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 startup:init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80360" y="4572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历史行情 + AI 日报 + 论坛假数据一次补齐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分层测试矩阵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1965960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22252D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2075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单测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656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internal/**/*_test.go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6656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认证 / 论坛 / 分析 / 管理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89720" y="1965960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22252D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075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前端 E2E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23865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Playwright · front/tests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7260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typecheck + 主路径走查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337560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22252D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data-fetch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758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pytest · data-fetch/tests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766560" y="4050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抓取与幂等写入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189720" y="3337560"/>
            <a:ext cx="2423160" cy="1188720"/>
          </a:xfrm>
          <a:prstGeom prst="roundRect">
            <a:avLst>
              <a:gd name="adj" fmla="val 4615"/>
            </a:avLst>
          </a:prstGeom>
          <a:solidFill>
            <a:srgbClr val="22252D"/>
          </a:solidFill>
          <a:ln/>
        </p:spPr>
      </p:sp>
      <p:sp>
        <p:nvSpPr>
          <p:cNvPr id="32" name="Text 30"/>
          <p:cNvSpPr/>
          <p:nvPr/>
        </p:nvSpPr>
        <p:spPr>
          <a:xfrm>
            <a:off x="937260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72600" y="37581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5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pytest · agent/tests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72600" y="40507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SQL 校验 / 限流 / 摘要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2A2A1C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GitHub Actions CI　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push / PR 并行跑：Go 构建+测试 ｜ 前端 typecheck+Vite 构建 ｜ data-fetch pytest ｜ Agent pytest　·　部署走 scripts/package-release.sh 打 release 包 + deploy-server.sh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128016" cy="3840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开发方式：六个角色的多 Agent 协作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18311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.claude/multi-agent.yaml 定义了固定角色与交接格式，代码在角色间流水线式传递。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868680" cy="868680"/>
          </a:xfrm>
          <a:prstGeom prst="ellipse">
            <a:avLst/>
          </a:prstGeom>
          <a:solidFill>
            <a:srgbClr val="22252D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38528" y="2395728"/>
            <a:ext cx="43891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5488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code_reading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读代码建上下文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89504" y="1965960"/>
            <a:ext cx="868680" cy="868680"/>
          </a:xfrm>
          <a:prstGeom prst="ellipse">
            <a:avLst/>
          </a:prstGeom>
          <a:solidFill>
            <a:srgbClr val="22252D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822192" y="2395728"/>
            <a:ext cx="43891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35915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plan_generation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59152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拆可执行步骤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1965960"/>
            <a:ext cx="868680" cy="868680"/>
          </a:xfrm>
          <a:prstGeom prst="ellipse">
            <a:avLst/>
          </a:prstGeom>
          <a:solidFill>
            <a:srgbClr val="22252D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C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705856" y="2395728"/>
            <a:ext cx="43891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42816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plan_decision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42816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方案取舍控风险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56832" y="1965960"/>
            <a:ext cx="868680" cy="868680"/>
          </a:xfrm>
          <a:prstGeom prst="ellipse">
            <a:avLst/>
          </a:prstGeom>
          <a:solidFill>
            <a:srgbClr val="8A6F1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589520" y="2395728"/>
            <a:ext cx="43891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1264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code_writing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2648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按边界改代码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540496" y="1965960"/>
            <a:ext cx="868680" cy="868680"/>
          </a:xfrm>
          <a:prstGeom prst="ellipse">
            <a:avLst/>
          </a:prstGeom>
          <a:solidFill>
            <a:srgbClr val="8A6F1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73184" y="2395728"/>
            <a:ext cx="438912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010144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code_review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10144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审回归与契约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424160" y="1965960"/>
            <a:ext cx="868680" cy="868680"/>
          </a:xfrm>
          <a:prstGeom prst="ellipse">
            <a:avLst/>
          </a:prstGeom>
          <a:solidFill>
            <a:srgbClr val="8A6F1C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893808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feature_check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93808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构建类型终检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22252D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交接格式（每个角色必带）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86384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2F0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goal · inputs · assumptions · touched_files · risks · next_action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86384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接口行为一变，必须同步更新 API.md；每完成一个功能点单独提交。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4069080"/>
            <a:ext cx="5376672" cy="1920240"/>
          </a:xfrm>
          <a:prstGeom prst="roundRect">
            <a:avLst>
              <a:gd name="adj" fmla="val 2857"/>
            </a:avLst>
          </a:prstGeom>
          <a:solidFill>
            <a:srgbClr val="22252D"/>
          </a:solidFill>
          <a:ln/>
        </p:spPr>
      </p:sp>
      <p:sp>
        <p:nvSpPr>
          <p:cNvPr id="40" name="Text 38"/>
          <p:cNvSpPr/>
          <p:nvPr/>
        </p:nvSpPr>
        <p:spPr>
          <a:xfrm>
            <a:off x="6501384" y="4251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并行规则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01384" y="46177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阅读阶段可按前端 / 后端 / 文档并行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编写阶段只在文件责任边界清晰时并行，禁止同文件双写</a:t>
            </a:r>
            <a:endParaRPr lang="en-US" sz="11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审查与功能检查可并行，审查结论优先级更高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669280" cy="5669280"/>
          </a:xfrm>
          <a:prstGeom prst="ellipse">
            <a:avLst/>
          </a:prstGeom>
          <a:ln w="330200">
            <a:solidFill>
              <a:srgbClr val="2225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三句话记住这个项目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3911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6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87452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一体化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94760" y="216712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一个仓库装下 Go 后端、React 前端、AkShare 抓取与 LangGraph Agent，task dev 一条命令全起。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874520" y="3108960"/>
            <a:ext cx="9692640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735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6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874520" y="3383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数据闭环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94760" y="340156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外部行情与 AI 日报定时入库 → 页面可视化 → AI 联动分析 → Agent 自然语言问答，全程共享一套 MySQL。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874520" y="4343400"/>
            <a:ext cx="9692640" cy="0"/>
          </a:xfrm>
          <a:prstGeom prst="line">
            <a:avLst/>
          </a:prstGeom>
          <a:noFill/>
          <a:ln w="9525">
            <a:solidFill>
              <a:srgbClr val="3A3E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0799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A6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874520" y="4617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安全兜底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463600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2F0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浏览器只认 Go 一个入口；Agent 只读 SQL、表白名单、限流加审计，敏感表永远不可查。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5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上手路径：</a:t>
            </a:r>
            <a:pPr indent="0" marL="0">
              <a:buNone/>
            </a:pPr>
            <a:r>
              <a:rPr lang="en-US" sz="1300" dirty="0">
                <a:solidFill>
                  <a:srgbClr val="9AA0A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init → task dev → 打开 http://localhost:5173　·　文档：README.md / API.md / specs/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3Xbackend 项目讲解</dc:title>
  <dc:subject>PptxGenJS Presentation</dc:subject>
  <dc:creator>3Xbackend</dc:creator>
  <cp:lastModifiedBy>3Xbackend</cp:lastModifiedBy>
  <cp:revision>1</cp:revision>
  <dcterms:created xsi:type="dcterms:W3CDTF">2026-09-27T10:52:54Z</dcterms:created>
  <dcterms:modified xsi:type="dcterms:W3CDTF">2026-09-27T10:52:54Z</dcterms:modified>
</cp:coreProperties>
</file>